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Times New Roman Bold" charset="1" panose="02020803070505020304"/>
      <p:regular r:id="rId13"/>
    </p:embeddedFont>
    <p:embeddedFont>
      <p:font typeface="Times New Roman" charset="1" panose="02020603050405020304"/>
      <p:regular r:id="rId14"/>
    </p:embeddedFont>
    <p:embeddedFont>
      <p:font typeface="ABeeZee Bold" charset="1" panose="02000000000000000000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ABeeZee" charset="1" panose="02000000000000000000"/>
      <p:regular r:id="rId21"/>
    </p:embeddedFont>
    <p:embeddedFont>
      <p:font typeface="Calibri (MS)" charset="1" panose="020F05020202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5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5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11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mitti.com" TargetMode="External" Type="http://schemas.openxmlformats.org/officeDocument/2006/relationships/hyperlink"/><Relationship Id="rId11" Target="https://www.digitalindia.gov.in" TargetMode="External" Type="http://schemas.openxmlformats.org/officeDocument/2006/relationships/hyperlink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https://www.pib.gov.in/PressReleasePage.aspx?PRID=2265530%C2%AE=48&amp;lang=2" TargetMode="External" Type="http://schemas.openxmlformats.org/officeDocument/2006/relationships/hyperlink"/><Relationship Id="rId7" Target="https://play.google.com/store/apps/details?id=com.irform" TargetMode="External" Type="http://schemas.openxmlformats.org/officeDocument/2006/relationships/hyperlink"/><Relationship Id="rId8" Target="https://play.google.com/store/apps/details?id=com.iti.itiaffililation" TargetMode="External" Type="http://schemas.openxmlformats.org/officeDocument/2006/relationships/hyperlink"/><Relationship Id="rId9" Target="https://www.nature.com/articles/s41598-025-27408-9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48960" y="1765944"/>
            <a:ext cx="8295040" cy="7176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9"/>
              </a:lnSpc>
            </a:pPr>
          </a:p>
          <a:p>
            <a:pPr algn="just" marL="578434" indent="-289217" lvl="1">
              <a:lnSpc>
                <a:spcPts val="7670"/>
              </a:lnSpc>
              <a:buFont typeface="Arial"/>
              <a:buChar char="•"/>
            </a:pPr>
            <a:r>
              <a:rPr lang="en-US" b="true" sz="319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- SIH26095</a:t>
            </a:r>
          </a:p>
          <a:p>
            <a:pPr algn="just" marL="578434" indent="-289217" lvl="1">
              <a:lnSpc>
                <a:spcPts val="7670"/>
              </a:lnSpc>
              <a:buFont typeface="Arial"/>
              <a:buChar char="•"/>
            </a:pPr>
            <a:r>
              <a:rPr lang="en-US" b="true" sz="319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Title- </a:t>
            </a:r>
            <a:r>
              <a:rPr lang="en-US" sz="31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Real-Time Monitoring &amp; Inspection Mobile App (MoSJE)</a:t>
            </a:r>
          </a:p>
          <a:p>
            <a:pPr algn="just" marL="578434" indent="-289217" lvl="1">
              <a:lnSpc>
                <a:spcPts val="7670"/>
              </a:lnSpc>
              <a:buFont typeface="Arial"/>
              <a:buChar char="•"/>
            </a:pPr>
            <a:r>
              <a:rPr lang="en-US" b="true" sz="319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Theme- </a:t>
            </a:r>
            <a:r>
              <a:rPr lang="en-US" sz="31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Automation</a:t>
            </a:r>
          </a:p>
          <a:p>
            <a:pPr algn="just" marL="578434" indent="-289217" lvl="1">
              <a:lnSpc>
                <a:spcPts val="7670"/>
              </a:lnSpc>
              <a:buFont typeface="Arial"/>
              <a:buChar char="•"/>
            </a:pPr>
            <a:r>
              <a:rPr lang="en-US" b="true" sz="319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Category- </a:t>
            </a:r>
            <a:r>
              <a:rPr lang="en-US" sz="31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just" marL="578434" indent="-289217" lvl="1">
              <a:lnSpc>
                <a:spcPts val="7670"/>
              </a:lnSpc>
              <a:buFont typeface="Arial"/>
              <a:buChar char="•"/>
            </a:pPr>
            <a:r>
              <a:rPr lang="en-US" b="true" sz="319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ID-</a:t>
            </a:r>
          </a:p>
          <a:p>
            <a:pPr algn="just" marL="578434" indent="-289217" lvl="1">
              <a:lnSpc>
                <a:spcPts val="7670"/>
              </a:lnSpc>
              <a:buFont typeface="Arial"/>
              <a:buChar char="•"/>
            </a:pPr>
            <a:r>
              <a:rPr lang="en-US" b="true" sz="319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(Registered on portal) - </a:t>
            </a:r>
            <a:r>
              <a:rPr lang="en-US" sz="319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Lumora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6089" y="0"/>
            <a:ext cx="16459200" cy="1783690"/>
            <a:chOff x="0" y="0"/>
            <a:chExt cx="21945600" cy="23782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378253"/>
            </a:xfrm>
            <a:custGeom>
              <a:avLst/>
              <a:gdLst/>
              <a:ahLst/>
              <a:cxnLst/>
              <a:rect r="r" b="b" t="t" l="l"/>
              <a:pathLst>
                <a:path h="237825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78253"/>
                  </a:lnTo>
                  <a:lnTo>
                    <a:pt x="0" y="2378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739" r="0" b="-1278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2387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Lumora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5169" y="652067"/>
            <a:ext cx="2368796" cy="1544384"/>
            <a:chOff x="0" y="0"/>
            <a:chExt cx="2554516" cy="16654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blipFill>
              <a:blip r:embed="rId4"/>
              <a:stretch>
                <a:fillRect l="0" t="-1125" r="0" b="-1125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677174" y="2666921"/>
            <a:ext cx="9222302" cy="6274971"/>
            <a:chOff x="0" y="0"/>
            <a:chExt cx="2428919" cy="16526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28919" cy="1652667"/>
            </a:xfrm>
            <a:custGeom>
              <a:avLst/>
              <a:gdLst/>
              <a:ahLst/>
              <a:cxnLst/>
              <a:rect r="r" b="b" t="t" l="l"/>
              <a:pathLst>
                <a:path h="1652667" w="2428919">
                  <a:moveTo>
                    <a:pt x="42813" y="0"/>
                  </a:moveTo>
                  <a:lnTo>
                    <a:pt x="2386106" y="0"/>
                  </a:lnTo>
                  <a:cubicBezTo>
                    <a:pt x="2397460" y="0"/>
                    <a:pt x="2408350" y="4511"/>
                    <a:pt x="2416379" y="12540"/>
                  </a:cubicBezTo>
                  <a:cubicBezTo>
                    <a:pt x="2424408" y="20569"/>
                    <a:pt x="2428919" y="31459"/>
                    <a:pt x="2428919" y="42813"/>
                  </a:cubicBezTo>
                  <a:lnTo>
                    <a:pt x="2428919" y="1609854"/>
                  </a:lnTo>
                  <a:cubicBezTo>
                    <a:pt x="2428919" y="1633499"/>
                    <a:pt x="2409751" y="1652667"/>
                    <a:pt x="2386106" y="1652667"/>
                  </a:cubicBezTo>
                  <a:lnTo>
                    <a:pt x="42813" y="1652667"/>
                  </a:lnTo>
                  <a:cubicBezTo>
                    <a:pt x="19168" y="1652667"/>
                    <a:pt x="0" y="1633499"/>
                    <a:pt x="0" y="1609854"/>
                  </a:cubicBezTo>
                  <a:lnTo>
                    <a:pt x="0" y="42813"/>
                  </a:lnTo>
                  <a:cubicBezTo>
                    <a:pt x="0" y="19168"/>
                    <a:pt x="19168" y="0"/>
                    <a:pt x="4281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428919" cy="1671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929242" y="2774534"/>
            <a:ext cx="8770516" cy="2734580"/>
          </a:xfrm>
          <a:custGeom>
            <a:avLst/>
            <a:gdLst/>
            <a:ahLst/>
            <a:cxnLst/>
            <a:rect r="r" b="b" t="t" l="l"/>
            <a:pathLst>
              <a:path h="2734580" w="8770516">
                <a:moveTo>
                  <a:pt x="0" y="0"/>
                </a:moveTo>
                <a:lnTo>
                  <a:pt x="8770516" y="0"/>
                </a:lnTo>
                <a:lnTo>
                  <a:pt x="8770516" y="2734580"/>
                </a:lnTo>
                <a:lnTo>
                  <a:pt x="0" y="2734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897" r="-751" b="-4956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864962" y="6269798"/>
            <a:ext cx="8834796" cy="2519685"/>
          </a:xfrm>
          <a:custGeom>
            <a:avLst/>
            <a:gdLst/>
            <a:ahLst/>
            <a:cxnLst/>
            <a:rect r="r" b="b" t="t" l="l"/>
            <a:pathLst>
              <a:path h="2519685" w="8834796">
                <a:moveTo>
                  <a:pt x="0" y="0"/>
                </a:moveTo>
                <a:lnTo>
                  <a:pt x="8834796" y="0"/>
                </a:lnTo>
                <a:lnTo>
                  <a:pt x="8834796" y="2519686"/>
                </a:lnTo>
                <a:lnTo>
                  <a:pt x="0" y="25196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5799" r="0" b="-20266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288873" y="2694154"/>
            <a:ext cx="8259696" cy="6145528"/>
            <a:chOff x="0" y="0"/>
            <a:chExt cx="2175393" cy="16185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5393" cy="1618575"/>
            </a:xfrm>
            <a:custGeom>
              <a:avLst/>
              <a:gdLst/>
              <a:ahLst/>
              <a:cxnLst/>
              <a:rect r="r" b="b" t="t" l="l"/>
              <a:pathLst>
                <a:path h="1618575" w="2175393">
                  <a:moveTo>
                    <a:pt x="47803" y="0"/>
                  </a:moveTo>
                  <a:lnTo>
                    <a:pt x="2127590" y="0"/>
                  </a:lnTo>
                  <a:cubicBezTo>
                    <a:pt x="2153991" y="0"/>
                    <a:pt x="2175393" y="21402"/>
                    <a:pt x="2175393" y="47803"/>
                  </a:cubicBezTo>
                  <a:lnTo>
                    <a:pt x="2175393" y="1570772"/>
                  </a:lnTo>
                  <a:cubicBezTo>
                    <a:pt x="2175393" y="1583451"/>
                    <a:pt x="2170357" y="1595609"/>
                    <a:pt x="2161392" y="1604574"/>
                  </a:cubicBezTo>
                  <a:cubicBezTo>
                    <a:pt x="2152427" y="1613539"/>
                    <a:pt x="2140268" y="1618575"/>
                    <a:pt x="2127590" y="1618575"/>
                  </a:cubicBezTo>
                  <a:lnTo>
                    <a:pt x="47803" y="1618575"/>
                  </a:lnTo>
                  <a:cubicBezTo>
                    <a:pt x="21402" y="1618575"/>
                    <a:pt x="0" y="1597173"/>
                    <a:pt x="0" y="1570772"/>
                  </a:cubicBezTo>
                  <a:lnTo>
                    <a:pt x="0" y="47803"/>
                  </a:lnTo>
                  <a:cubicBezTo>
                    <a:pt x="0" y="21402"/>
                    <a:pt x="21402" y="0"/>
                    <a:pt x="47803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2175393" cy="1637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18187" y="2862911"/>
            <a:ext cx="7601069" cy="592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0"/>
              </a:lnSpc>
            </a:pPr>
            <a:r>
              <a:rPr lang="en-US" sz="244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AI-Powered Risk-Based Monitoring &amp; Verification of Welfare Institutions</a:t>
            </a:r>
          </a:p>
          <a:p>
            <a:pPr algn="just" marL="528288" indent="-264144" lvl="1">
              <a:lnSpc>
                <a:spcPts val="3670"/>
              </a:lnSpc>
              <a:buFont typeface="Arial"/>
              <a:buChar char="•"/>
            </a:pPr>
            <a:r>
              <a:rPr lang="en-US" sz="244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NIRIKSHAN AI is a unified, intelligent monitoring platform that integrates </a:t>
            </a:r>
            <a:r>
              <a:rPr lang="en-US" sz="2446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institutional reporting</a:t>
            </a:r>
            <a:r>
              <a:rPr lang="en-US" sz="244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, CCTV-based </a:t>
            </a:r>
            <a:r>
              <a:rPr lang="en-US" sz="2446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telemetry</a:t>
            </a:r>
            <a:r>
              <a:rPr lang="en-US" sz="244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, </a:t>
            </a:r>
            <a:r>
              <a:rPr lang="en-US" sz="2446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anomaly detection</a:t>
            </a:r>
            <a:r>
              <a:rPr lang="en-US" sz="244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, risk assessment, official intervention, field verification, and beneficiary feedback into a </a:t>
            </a:r>
            <a:r>
              <a:rPr lang="en-US" sz="2446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single transparent</a:t>
            </a:r>
            <a:r>
              <a:rPr lang="en-US" sz="244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 and auditable </a:t>
            </a:r>
            <a:r>
              <a:rPr lang="en-US" sz="2446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workflow</a:t>
            </a:r>
            <a:r>
              <a:rPr lang="en-US" sz="244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.</a:t>
            </a:r>
          </a:p>
          <a:p>
            <a:pPr algn="just" marL="528288" indent="-264144" lvl="1">
              <a:lnSpc>
                <a:spcPts val="3670"/>
              </a:lnSpc>
              <a:buFont typeface="Arial"/>
              <a:buChar char="•"/>
            </a:pPr>
            <a:r>
              <a:rPr lang="en-US" sz="244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It enables authorities to </a:t>
            </a:r>
            <a:r>
              <a:rPr lang="en-US" sz="2446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identify risks early</a:t>
            </a:r>
            <a:r>
              <a:rPr lang="en-US" sz="244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, prioritize high-risk institutions, verify ground-level conditions, and take </a:t>
            </a:r>
            <a:r>
              <a:rPr lang="en-US" sz="2446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timely corrective action</a:t>
            </a:r>
            <a:r>
              <a:rPr lang="en-US" sz="244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 while maintaining complete </a:t>
            </a:r>
            <a:r>
              <a:rPr lang="en-US" sz="2446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evidence and audit trails</a:t>
            </a:r>
            <a:r>
              <a:rPr lang="en-US" sz="2446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6225" y="2129776"/>
            <a:ext cx="6182359" cy="56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2"/>
              </a:lnSpc>
            </a:pPr>
            <a:r>
              <a:rPr lang="en-US" sz="328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PROPOSED SOLUTION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89884" y="2162096"/>
            <a:ext cx="383303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5"/>
              </a:lnSpc>
              <a:spcBef>
                <a:spcPct val="0"/>
              </a:spcBef>
            </a:pPr>
            <a:r>
              <a:rPr lang="en-US" sz="3279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HOW IT WORKS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71675" y="5608529"/>
            <a:ext cx="606944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5"/>
              </a:lnSpc>
              <a:spcBef>
                <a:spcPct val="0"/>
              </a:spcBef>
            </a:pPr>
            <a:r>
              <a:rPr lang="en-US" sz="3279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INNOVATION AND UNIQUENESS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5612" y="224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229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blipFill>
              <a:blip r:embed="rId4"/>
              <a:stretch>
                <a:fillRect l="0" t="-1125" r="0" b="-1125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155584" y="2341279"/>
            <a:ext cx="7889319" cy="2742495"/>
            <a:chOff x="0" y="0"/>
            <a:chExt cx="2077845" cy="7223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77845" cy="722303"/>
            </a:xfrm>
            <a:custGeom>
              <a:avLst/>
              <a:gdLst/>
              <a:ahLst/>
              <a:cxnLst/>
              <a:rect r="r" b="b" t="t" l="l"/>
              <a:pathLst>
                <a:path h="722303" w="2077845">
                  <a:moveTo>
                    <a:pt x="50047" y="0"/>
                  </a:moveTo>
                  <a:lnTo>
                    <a:pt x="2027798" y="0"/>
                  </a:lnTo>
                  <a:cubicBezTo>
                    <a:pt x="2055438" y="0"/>
                    <a:pt x="2077845" y="22407"/>
                    <a:pt x="2077845" y="50047"/>
                  </a:cubicBezTo>
                  <a:lnTo>
                    <a:pt x="2077845" y="672256"/>
                  </a:lnTo>
                  <a:cubicBezTo>
                    <a:pt x="2077845" y="685529"/>
                    <a:pt x="2072573" y="698259"/>
                    <a:pt x="2063187" y="707645"/>
                  </a:cubicBezTo>
                  <a:cubicBezTo>
                    <a:pt x="2053801" y="717030"/>
                    <a:pt x="2041072" y="722303"/>
                    <a:pt x="2027798" y="722303"/>
                  </a:cubicBezTo>
                  <a:lnTo>
                    <a:pt x="50047" y="722303"/>
                  </a:lnTo>
                  <a:cubicBezTo>
                    <a:pt x="22407" y="722303"/>
                    <a:pt x="0" y="699896"/>
                    <a:pt x="0" y="672256"/>
                  </a:cubicBezTo>
                  <a:lnTo>
                    <a:pt x="0" y="50047"/>
                  </a:lnTo>
                  <a:cubicBezTo>
                    <a:pt x="0" y="22407"/>
                    <a:pt x="22407" y="0"/>
                    <a:pt x="5004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077845" cy="741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748337" y="2454807"/>
            <a:ext cx="6703813" cy="2515437"/>
          </a:xfrm>
          <a:custGeom>
            <a:avLst/>
            <a:gdLst/>
            <a:ahLst/>
            <a:cxnLst/>
            <a:rect r="r" b="b" t="t" l="l"/>
            <a:pathLst>
              <a:path h="2515437" w="6703813">
                <a:moveTo>
                  <a:pt x="0" y="0"/>
                </a:moveTo>
                <a:lnTo>
                  <a:pt x="6703813" y="0"/>
                </a:lnTo>
                <a:lnTo>
                  <a:pt x="6703813" y="2515437"/>
                </a:lnTo>
                <a:lnTo>
                  <a:pt x="0" y="25154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763" r="0" b="-9763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75612" y="2628063"/>
            <a:ext cx="9373648" cy="5661883"/>
          </a:xfrm>
          <a:custGeom>
            <a:avLst/>
            <a:gdLst/>
            <a:ahLst/>
            <a:cxnLst/>
            <a:rect r="r" b="b" t="t" l="l"/>
            <a:pathLst>
              <a:path h="5661883" w="9373648">
                <a:moveTo>
                  <a:pt x="0" y="0"/>
                </a:moveTo>
                <a:lnTo>
                  <a:pt x="9373648" y="0"/>
                </a:lnTo>
                <a:lnTo>
                  <a:pt x="9373648" y="5661883"/>
                </a:lnTo>
                <a:lnTo>
                  <a:pt x="0" y="56618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4366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633169" y="1598897"/>
            <a:ext cx="511493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IDEA/APPROACH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7541" y="1598897"/>
            <a:ext cx="552540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TECH STACK USED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42925" y="5182779"/>
            <a:ext cx="471463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TECHNICAL APPROACH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55584" y="5945048"/>
            <a:ext cx="7712273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787" indent="-259894" lvl="1">
              <a:lnSpc>
                <a:spcPts val="2889"/>
              </a:lnSpc>
              <a:buFont typeface="Arial"/>
              <a:buChar char="•"/>
            </a:pPr>
            <a:r>
              <a:rPr lang="en-US" sz="2407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Data → Process → Detect → Act → Verify → Audit</a:t>
            </a:r>
          </a:p>
          <a:p>
            <a:pPr algn="l" marL="519787" indent="-259894" lvl="1">
              <a:lnSpc>
                <a:spcPts val="2889"/>
              </a:lnSpc>
              <a:buFont typeface="Arial"/>
              <a:buChar char="•"/>
            </a:pPr>
            <a:r>
              <a:rPr lang="en-US" sz="2407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Data: </a:t>
            </a:r>
            <a:r>
              <a:rPr lang="en-US" sz="2407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Attendance, reports &amp; CCTV telemetry</a:t>
            </a:r>
          </a:p>
          <a:p>
            <a:pPr algn="l" marL="519787" indent="-259894" lvl="1">
              <a:lnSpc>
                <a:spcPts val="2889"/>
              </a:lnSpc>
              <a:buFont typeface="Arial"/>
              <a:buChar char="•"/>
            </a:pPr>
            <a:r>
              <a:rPr lang="en-US" sz="2407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Process: </a:t>
            </a:r>
            <a:r>
              <a:rPr lang="en-US" sz="2407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Validate, compare &amp; store data</a:t>
            </a:r>
          </a:p>
          <a:p>
            <a:pPr algn="l" marL="519787" indent="-259894" lvl="1">
              <a:lnSpc>
                <a:spcPts val="2889"/>
              </a:lnSpc>
              <a:buFont typeface="Arial"/>
              <a:buChar char="•"/>
            </a:pPr>
            <a:r>
              <a:rPr lang="en-US" sz="2407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Detect: </a:t>
            </a:r>
            <a:r>
              <a:rPr lang="en-US" sz="2407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Anomaly detection + risk scoring</a:t>
            </a:r>
          </a:p>
          <a:p>
            <a:pPr algn="l" marL="519787" indent="-259894" lvl="1">
              <a:lnSpc>
                <a:spcPts val="2889"/>
              </a:lnSpc>
              <a:buFont typeface="Arial"/>
              <a:buChar char="•"/>
            </a:pPr>
            <a:r>
              <a:rPr lang="en-US" sz="2407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Act: </a:t>
            </a:r>
            <a:r>
              <a:rPr lang="en-US" sz="2407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Alerts &amp; surprise inspections</a:t>
            </a:r>
          </a:p>
          <a:p>
            <a:pPr algn="l" marL="519787" indent="-259894" lvl="1">
              <a:lnSpc>
                <a:spcPts val="2889"/>
              </a:lnSpc>
              <a:buFont typeface="Arial"/>
              <a:buChar char="•"/>
            </a:pPr>
            <a:r>
              <a:rPr lang="en-US" sz="2407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Verify: </a:t>
            </a:r>
            <a:r>
              <a:rPr lang="en-US" sz="2407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GPS, checklist &amp; geo-tagged evidence</a:t>
            </a:r>
          </a:p>
          <a:p>
            <a:pPr algn="l" marL="519787" indent="-259894" lvl="1">
              <a:lnSpc>
                <a:spcPts val="2889"/>
              </a:lnSpc>
              <a:buFont typeface="Arial"/>
              <a:buChar char="•"/>
            </a:pPr>
            <a:r>
              <a:rPr lang="en-US" sz="2407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Audit: </a:t>
            </a:r>
            <a:r>
              <a:rPr lang="en-US" sz="2407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SHA-256 integrity + complete audit trail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155584" y="5829300"/>
            <a:ext cx="7889319" cy="3090763"/>
            <a:chOff x="0" y="0"/>
            <a:chExt cx="2077845" cy="8140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77845" cy="814028"/>
            </a:xfrm>
            <a:custGeom>
              <a:avLst/>
              <a:gdLst/>
              <a:ahLst/>
              <a:cxnLst/>
              <a:rect r="r" b="b" t="t" l="l"/>
              <a:pathLst>
                <a:path h="814028" w="2077845">
                  <a:moveTo>
                    <a:pt x="50047" y="0"/>
                  </a:moveTo>
                  <a:lnTo>
                    <a:pt x="2027798" y="0"/>
                  </a:lnTo>
                  <a:cubicBezTo>
                    <a:pt x="2055438" y="0"/>
                    <a:pt x="2077845" y="22407"/>
                    <a:pt x="2077845" y="50047"/>
                  </a:cubicBezTo>
                  <a:lnTo>
                    <a:pt x="2077845" y="763981"/>
                  </a:lnTo>
                  <a:cubicBezTo>
                    <a:pt x="2077845" y="777254"/>
                    <a:pt x="2072573" y="789984"/>
                    <a:pt x="2063187" y="799370"/>
                  </a:cubicBezTo>
                  <a:cubicBezTo>
                    <a:pt x="2053801" y="808755"/>
                    <a:pt x="2041072" y="814028"/>
                    <a:pt x="2027798" y="814028"/>
                  </a:cubicBezTo>
                  <a:lnTo>
                    <a:pt x="50047" y="814028"/>
                  </a:lnTo>
                  <a:cubicBezTo>
                    <a:pt x="22407" y="814028"/>
                    <a:pt x="0" y="791621"/>
                    <a:pt x="0" y="763981"/>
                  </a:cubicBezTo>
                  <a:lnTo>
                    <a:pt x="0" y="50047"/>
                  </a:lnTo>
                  <a:cubicBezTo>
                    <a:pt x="0" y="22407"/>
                    <a:pt x="22407" y="0"/>
                    <a:pt x="5004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077845" cy="833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75612" y="2341279"/>
            <a:ext cx="9430045" cy="6578784"/>
            <a:chOff x="0" y="0"/>
            <a:chExt cx="2483633" cy="17326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83633" cy="1732684"/>
            </a:xfrm>
            <a:custGeom>
              <a:avLst/>
              <a:gdLst/>
              <a:ahLst/>
              <a:cxnLst/>
              <a:rect r="r" b="b" t="t" l="l"/>
              <a:pathLst>
                <a:path h="1732684" w="2483633">
                  <a:moveTo>
                    <a:pt x="41870" y="0"/>
                  </a:moveTo>
                  <a:lnTo>
                    <a:pt x="2441763" y="0"/>
                  </a:lnTo>
                  <a:cubicBezTo>
                    <a:pt x="2452868" y="0"/>
                    <a:pt x="2463518" y="4411"/>
                    <a:pt x="2471370" y="12263"/>
                  </a:cubicBezTo>
                  <a:cubicBezTo>
                    <a:pt x="2479222" y="20116"/>
                    <a:pt x="2483633" y="30766"/>
                    <a:pt x="2483633" y="41870"/>
                  </a:cubicBezTo>
                  <a:lnTo>
                    <a:pt x="2483633" y="1690814"/>
                  </a:lnTo>
                  <a:cubicBezTo>
                    <a:pt x="2483633" y="1713938"/>
                    <a:pt x="2464887" y="1732684"/>
                    <a:pt x="2441763" y="1732684"/>
                  </a:cubicBezTo>
                  <a:lnTo>
                    <a:pt x="41870" y="1732684"/>
                  </a:lnTo>
                  <a:cubicBezTo>
                    <a:pt x="30766" y="1732684"/>
                    <a:pt x="20116" y="1728272"/>
                    <a:pt x="12263" y="1720420"/>
                  </a:cubicBezTo>
                  <a:cubicBezTo>
                    <a:pt x="4411" y="1712568"/>
                    <a:pt x="0" y="1701918"/>
                    <a:pt x="0" y="1690814"/>
                  </a:cubicBezTo>
                  <a:lnTo>
                    <a:pt x="0" y="41870"/>
                  </a:lnTo>
                  <a:cubicBezTo>
                    <a:pt x="0" y="18746"/>
                    <a:pt x="18746" y="0"/>
                    <a:pt x="41870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483633" cy="1751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2530" y="63981"/>
            <a:ext cx="16139566" cy="1681205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1945600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671" r="0" b="-457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3398" y="487898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73398" y="346651"/>
            <a:ext cx="1915887" cy="1249101"/>
            <a:chOff x="0" y="0"/>
            <a:chExt cx="2554516" cy="1665468"/>
          </a:xfrm>
        </p:grpSpPr>
        <p:sp>
          <p:nvSpPr>
            <p:cNvPr name="Freeform 19" id="19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blipFill>
              <a:blip r:embed="rId3"/>
              <a:stretch>
                <a:fillRect l="-33650" t="0" r="-33651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01357" y="393961"/>
            <a:ext cx="2059969" cy="1343038"/>
            <a:chOff x="0" y="0"/>
            <a:chExt cx="2554516" cy="16654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blipFill>
              <a:blip r:embed="rId6"/>
              <a:stretch>
                <a:fillRect l="0" t="-1125" r="0" b="-1125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187664" y="1849961"/>
            <a:ext cx="304208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FEASIBILITY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01357" y="2444792"/>
            <a:ext cx="8490955" cy="6677962"/>
            <a:chOff x="0" y="0"/>
            <a:chExt cx="2236301" cy="17588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36301" cy="1758805"/>
            </a:xfrm>
            <a:custGeom>
              <a:avLst/>
              <a:gdLst/>
              <a:ahLst/>
              <a:cxnLst/>
              <a:rect r="r" b="b" t="t" l="l"/>
              <a:pathLst>
                <a:path h="1758805" w="2236301">
                  <a:moveTo>
                    <a:pt x="46501" y="0"/>
                  </a:moveTo>
                  <a:lnTo>
                    <a:pt x="2189800" y="0"/>
                  </a:lnTo>
                  <a:cubicBezTo>
                    <a:pt x="2215482" y="0"/>
                    <a:pt x="2236301" y="20819"/>
                    <a:pt x="2236301" y="46501"/>
                  </a:cubicBezTo>
                  <a:lnTo>
                    <a:pt x="2236301" y="1712304"/>
                  </a:lnTo>
                  <a:cubicBezTo>
                    <a:pt x="2236301" y="1737985"/>
                    <a:pt x="2215482" y="1758805"/>
                    <a:pt x="2189800" y="1758805"/>
                  </a:cubicBezTo>
                  <a:lnTo>
                    <a:pt x="46501" y="1758805"/>
                  </a:lnTo>
                  <a:cubicBezTo>
                    <a:pt x="20819" y="1758805"/>
                    <a:pt x="0" y="1737985"/>
                    <a:pt x="0" y="1712304"/>
                  </a:cubicBezTo>
                  <a:lnTo>
                    <a:pt x="0" y="46501"/>
                  </a:lnTo>
                  <a:cubicBezTo>
                    <a:pt x="0" y="20819"/>
                    <a:pt x="20819" y="0"/>
                    <a:pt x="46501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236301" cy="1777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09476" y="2581275"/>
            <a:ext cx="8270615" cy="300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Technically feasible using a </a:t>
            </a:r>
            <a:r>
              <a:rPr lang="en-US" sz="22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mobile</a:t>
            </a:r>
            <a:r>
              <a:rPr lang="en-US" sz="22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 + backend architecture.</a:t>
            </a:r>
          </a:p>
          <a:p>
            <a:pPr algn="just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Scalable</a:t>
            </a:r>
            <a:r>
              <a:rPr lang="en-US" sz="22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 through modular APIs and replaceable CCTV/data providers.</a:t>
            </a:r>
          </a:p>
          <a:p>
            <a:pPr algn="just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Practical with </a:t>
            </a:r>
            <a:r>
              <a:rPr lang="en-US" sz="22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GPS, digital checklists</a:t>
            </a:r>
            <a:r>
              <a:rPr lang="en-US" sz="22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 and geo-tagged evidence.</a:t>
            </a:r>
          </a:p>
          <a:p>
            <a:pPr algn="just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Cost-effective by using existing infrastructure and software technologies.</a:t>
            </a:r>
          </a:p>
          <a:p>
            <a:pPr algn="just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Deployable</a:t>
            </a:r>
            <a:r>
              <a:rPr lang="en-US" sz="22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 across NGOs, institutes, hostels and welfare projects.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5554" y="5581650"/>
            <a:ext cx="8398459" cy="300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Human-in-the-loop AI → </a:t>
            </a:r>
            <a:r>
              <a:rPr lang="en-US" sz="2199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Officials verify alerts before action.</a:t>
            </a:r>
          </a:p>
          <a:p>
            <a:pPr algn="just" marL="474979" indent="-237490" lvl="1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Offline-ready design →</a:t>
            </a:r>
            <a:r>
              <a:rPr lang="en-US" sz="2199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 Store inspection data locally and sync when online.</a:t>
            </a:r>
          </a:p>
          <a:p>
            <a:pPr algn="just" marL="474979" indent="-237490" lvl="1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Privacy &amp; access control →</a:t>
            </a:r>
            <a:r>
              <a:rPr lang="en-US" sz="2199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 Use role-based access and secure data handling.</a:t>
            </a:r>
          </a:p>
          <a:p>
            <a:pPr algn="just" marL="474979" indent="-237490" lvl="1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Modular architecture →</a:t>
            </a:r>
            <a:r>
              <a:rPr lang="en-US" sz="2199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 Easily integrate new institutions and authorized data sources.</a:t>
            </a:r>
          </a:p>
          <a:p>
            <a:pPr algn="just">
              <a:lnSpc>
                <a:spcPts val="2639"/>
              </a:lnSpc>
              <a:spcBef>
                <a:spcPct val="0"/>
              </a:spcBef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9105900" y="2444792"/>
            <a:ext cx="8900903" cy="6677962"/>
            <a:chOff x="0" y="0"/>
            <a:chExt cx="2344271" cy="175880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44271" cy="1758805"/>
            </a:xfrm>
            <a:custGeom>
              <a:avLst/>
              <a:gdLst/>
              <a:ahLst/>
              <a:cxnLst/>
              <a:rect r="r" b="b" t="t" l="l"/>
              <a:pathLst>
                <a:path h="1758805" w="2344271">
                  <a:moveTo>
                    <a:pt x="44359" y="0"/>
                  </a:moveTo>
                  <a:lnTo>
                    <a:pt x="2299911" y="0"/>
                  </a:lnTo>
                  <a:cubicBezTo>
                    <a:pt x="2311676" y="0"/>
                    <a:pt x="2322959" y="4674"/>
                    <a:pt x="2331278" y="12993"/>
                  </a:cubicBezTo>
                  <a:cubicBezTo>
                    <a:pt x="2339597" y="21312"/>
                    <a:pt x="2344271" y="32594"/>
                    <a:pt x="2344271" y="44359"/>
                  </a:cubicBezTo>
                  <a:lnTo>
                    <a:pt x="2344271" y="1714445"/>
                  </a:lnTo>
                  <a:cubicBezTo>
                    <a:pt x="2344271" y="1726210"/>
                    <a:pt x="2339597" y="1737493"/>
                    <a:pt x="2331278" y="1745812"/>
                  </a:cubicBezTo>
                  <a:cubicBezTo>
                    <a:pt x="2322959" y="1754131"/>
                    <a:pt x="2311676" y="1758805"/>
                    <a:pt x="2299911" y="1758805"/>
                  </a:cubicBezTo>
                  <a:lnTo>
                    <a:pt x="44359" y="1758805"/>
                  </a:lnTo>
                  <a:cubicBezTo>
                    <a:pt x="32594" y="1758805"/>
                    <a:pt x="21312" y="1754131"/>
                    <a:pt x="12993" y="1745812"/>
                  </a:cubicBezTo>
                  <a:cubicBezTo>
                    <a:pt x="4674" y="1737493"/>
                    <a:pt x="0" y="1726210"/>
                    <a:pt x="0" y="1714445"/>
                  </a:cubicBezTo>
                  <a:lnTo>
                    <a:pt x="0" y="44359"/>
                  </a:lnTo>
                  <a:cubicBezTo>
                    <a:pt x="0" y="32594"/>
                    <a:pt x="4674" y="21312"/>
                    <a:pt x="12993" y="12993"/>
                  </a:cubicBezTo>
                  <a:cubicBezTo>
                    <a:pt x="21312" y="4674"/>
                    <a:pt x="32594" y="0"/>
                    <a:pt x="4435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344271" cy="1768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Buil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using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</a:t>
              </a: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widely available and open-source technologies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keeping development and deployment costs low.</a:t>
              </a: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Desi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gn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e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d 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as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a </a:t>
              </a: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modular platform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allowing CCTV, attendance, inspection, AI analytics, and beneficiary feedback to be </a:t>
              </a: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integrated progressively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.</a:t>
              </a: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Suppo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r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ts </a:t>
              </a: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mobile-based and offline-capable inspections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, mak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ing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it 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pra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c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c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al for field teams 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pe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r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a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n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g in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</a:t>
              </a: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areas with limited connectivity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.</a:t>
              </a: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Can integrate with </a:t>
              </a: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existing CCTV infrastructure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and institutional systems, reducing the need for complete infras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tr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uctu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re 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repla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ce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me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nt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.</a:t>
              </a: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Uses automated risk scoring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and inspection assignment to handle large numbers of institutions without requiring proportional increases in manpower.</a:t>
              </a: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Maintains secure, auditable digital records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through role-based access, geo-tagging, timestamps, and </a:t>
              </a: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SHA-256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evidence integrity, making the system suitable for government-level adoption.</a:t>
              </a:r>
            </a:p>
            <a:p>
              <a:pPr algn="l">
                <a:lnSpc>
                  <a:spcPts val="263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073410" y="1849961"/>
            <a:ext cx="304208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VIABILITY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229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41911" y="324679"/>
            <a:ext cx="2022154" cy="1318384"/>
            <a:chOff x="0" y="0"/>
            <a:chExt cx="2554516" cy="16654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blipFill>
              <a:blip r:embed="rId5"/>
              <a:stretch>
                <a:fillRect l="0" t="-1125" r="0" b="-1125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2444792"/>
            <a:ext cx="7818767" cy="6857481"/>
            <a:chOff x="0" y="0"/>
            <a:chExt cx="2059264" cy="18060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59264" cy="1806085"/>
            </a:xfrm>
            <a:custGeom>
              <a:avLst/>
              <a:gdLst/>
              <a:ahLst/>
              <a:cxnLst/>
              <a:rect r="r" b="b" t="t" l="l"/>
              <a:pathLst>
                <a:path h="1806085" w="2059264">
                  <a:moveTo>
                    <a:pt x="50499" y="0"/>
                  </a:moveTo>
                  <a:lnTo>
                    <a:pt x="2008765" y="0"/>
                  </a:lnTo>
                  <a:cubicBezTo>
                    <a:pt x="2036655" y="0"/>
                    <a:pt x="2059264" y="22609"/>
                    <a:pt x="2059264" y="50499"/>
                  </a:cubicBezTo>
                  <a:lnTo>
                    <a:pt x="2059264" y="1755587"/>
                  </a:lnTo>
                  <a:cubicBezTo>
                    <a:pt x="2059264" y="1783476"/>
                    <a:pt x="2036655" y="1806085"/>
                    <a:pt x="2008765" y="1806085"/>
                  </a:cubicBezTo>
                  <a:lnTo>
                    <a:pt x="50499" y="1806085"/>
                  </a:lnTo>
                  <a:cubicBezTo>
                    <a:pt x="22609" y="1806085"/>
                    <a:pt x="0" y="1783476"/>
                    <a:pt x="0" y="1755587"/>
                  </a:cubicBezTo>
                  <a:lnTo>
                    <a:pt x="0" y="50499"/>
                  </a:lnTo>
                  <a:cubicBezTo>
                    <a:pt x="0" y="22609"/>
                    <a:pt x="22609" y="0"/>
                    <a:pt x="5049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2059264" cy="1815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Government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: Gets a centralized view of institutions, real-time alerts, and risk insights to take timely corrective action.</a:t>
              </a:r>
            </a:p>
            <a:p>
              <a:pPr algn="l">
                <a:lnSpc>
                  <a:spcPts val="2639"/>
                </a:lnSpc>
              </a:pP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Inspectors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: Receive prioritized assignments and use verified, geo-tagged evidence to conduct more accurate and efficient inspections.</a:t>
              </a:r>
            </a:p>
            <a:p>
              <a:pPr algn="l">
                <a:lnSpc>
                  <a:spcPts val="2639"/>
                </a:lnSpc>
              </a:pP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NGOs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: Benefit from transparent reporting, simplified compliance processes, and clear records of their performance.</a:t>
              </a:r>
            </a:p>
            <a:p>
              <a:pPr algn="l">
                <a:lnSpc>
                  <a:spcPts val="2639"/>
                </a:lnSpc>
              </a:pP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Beneficiaries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: Receive better-verified services, with faster identification of service gaps and issues affecting their welfare.</a:t>
              </a:r>
            </a:p>
            <a:p>
              <a:pPr algn="l">
                <a:lnSpc>
                  <a:spcPts val="263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0" y="2444792"/>
            <a:ext cx="8900903" cy="6677962"/>
            <a:chOff x="0" y="0"/>
            <a:chExt cx="2344271" cy="175880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44271" cy="1758805"/>
            </a:xfrm>
            <a:custGeom>
              <a:avLst/>
              <a:gdLst/>
              <a:ahLst/>
              <a:cxnLst/>
              <a:rect r="r" b="b" t="t" l="l"/>
              <a:pathLst>
                <a:path h="1758805" w="2344271">
                  <a:moveTo>
                    <a:pt x="44359" y="0"/>
                  </a:moveTo>
                  <a:lnTo>
                    <a:pt x="2299911" y="0"/>
                  </a:lnTo>
                  <a:cubicBezTo>
                    <a:pt x="2311676" y="0"/>
                    <a:pt x="2322959" y="4674"/>
                    <a:pt x="2331278" y="12993"/>
                  </a:cubicBezTo>
                  <a:cubicBezTo>
                    <a:pt x="2339597" y="21312"/>
                    <a:pt x="2344271" y="32594"/>
                    <a:pt x="2344271" y="44359"/>
                  </a:cubicBezTo>
                  <a:lnTo>
                    <a:pt x="2344271" y="1714445"/>
                  </a:lnTo>
                  <a:cubicBezTo>
                    <a:pt x="2344271" y="1726210"/>
                    <a:pt x="2339597" y="1737493"/>
                    <a:pt x="2331278" y="1745812"/>
                  </a:cubicBezTo>
                  <a:cubicBezTo>
                    <a:pt x="2322959" y="1754131"/>
                    <a:pt x="2311676" y="1758805"/>
                    <a:pt x="2299911" y="1758805"/>
                  </a:cubicBezTo>
                  <a:lnTo>
                    <a:pt x="44359" y="1758805"/>
                  </a:lnTo>
                  <a:cubicBezTo>
                    <a:pt x="32594" y="1758805"/>
                    <a:pt x="21312" y="1754131"/>
                    <a:pt x="12993" y="1745812"/>
                  </a:cubicBezTo>
                  <a:cubicBezTo>
                    <a:pt x="4674" y="1737493"/>
                    <a:pt x="0" y="1726210"/>
                    <a:pt x="0" y="1714445"/>
                  </a:cubicBezTo>
                  <a:lnTo>
                    <a:pt x="0" y="44359"/>
                  </a:lnTo>
                  <a:cubicBezTo>
                    <a:pt x="0" y="32594"/>
                    <a:pt x="4674" y="21312"/>
                    <a:pt x="12993" y="12993"/>
                  </a:cubicBezTo>
                  <a:cubicBezTo>
                    <a:pt x="21312" y="4674"/>
                    <a:pt x="32594" y="0"/>
                    <a:pt x="4435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344271" cy="1768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Enables </a:t>
              </a: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continuous monitoring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of welfare institutions instead of relying only on periodic physical inspections.</a:t>
              </a: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Detects discrepancies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and suspicious patterns early by cross-verifying reports, attendance, CCTV data, and field evidence.</a:t>
              </a: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Ensures inspections are </a:t>
              </a: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genuine and verifiable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through GPS-based location validation, time-stamped evidence, and SHA-</a:t>
              </a: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256 integrity checks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.</a:t>
              </a: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Helps officials </a:t>
              </a: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prioritize high-risk institutions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and allocate limited inspection teams where intervention is most needed.</a:t>
              </a: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Creates a </a:t>
              </a: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transparent, centralized audit trail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that improves accountability and ensures welfare services actually reach the intended beneficiaries.</a:t>
              </a: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Reduces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</a:t>
              </a: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manual paperwork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and administrative workload by digitizing inspections, evidence collection, and report submission.</a:t>
              </a: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Enables </a:t>
              </a:r>
              <a:r>
                <a:rPr lang="en-US" sz="2199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faster decision-making</a:t>
              </a:r>
              <a:r>
                <a:rPr lang="en-US" sz="2199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through real-time alerts, centralized dashboards, and automated risk-based prioritization.</a:t>
              </a:r>
            </a:p>
            <a:p>
              <a:pPr algn="l">
                <a:lnSpc>
                  <a:spcPts val="263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104919" y="1801040"/>
            <a:ext cx="343772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6"/>
              </a:lnSpc>
              <a:spcBef>
                <a:spcPct val="0"/>
              </a:spcBef>
            </a:pPr>
            <a:r>
              <a:rPr lang="en-US" sz="3096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IMPACT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00095" y="1801040"/>
            <a:ext cx="678871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KEY BENEFITS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229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RESEARCH  AND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34647" y="2028979"/>
            <a:ext cx="487037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63"/>
              </a:lnSpc>
            </a:pPr>
            <a:r>
              <a:rPr lang="en-US" sz="3886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EXISTING SOLUTIONS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Your Team Name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17700" y="301196"/>
            <a:ext cx="2231710" cy="1455008"/>
            <a:chOff x="0" y="0"/>
            <a:chExt cx="2554516" cy="16654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blipFill>
              <a:blip r:embed="rId5"/>
              <a:stretch>
                <a:fillRect l="0" t="-1125" r="0" b="-1125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044135" y="2892301"/>
            <a:ext cx="14397147" cy="459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4067" indent="-327033" lvl="1">
              <a:lnSpc>
                <a:spcPts val="3635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PIB – PM-AJAY Portal &amp; AJAY App Launch (MoSJE):</a:t>
            </a:r>
            <a:r>
              <a:rPr lang="en-US" sz="3029" u="sng">
                <a:solidFill>
                  <a:srgbClr val="0070C0"/>
                </a:solidFill>
                <a:latin typeface="ABeeZee"/>
                <a:ea typeface="ABeeZee"/>
                <a:cs typeface="ABeeZee"/>
                <a:sym typeface="ABeeZee"/>
                <a:hlinkClick r:id="rId6" tooltip="https://www.pib.gov.in/PressReleasePage.aspx?PRID=2265530%C2%AE=48&amp;lang=2"/>
              </a:rPr>
              <a:t>https://www.pib.gov.in/PressReleasePage.aspx?PRID=2265530</a:t>
            </a:r>
          </a:p>
          <a:p>
            <a:pPr algn="l" marL="654067" indent="-327033" lvl="1">
              <a:lnSpc>
                <a:spcPts val="3635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GIA Inspection App (MoSJE):</a:t>
            </a:r>
            <a:r>
              <a:rPr lang="en-US" sz="3029" u="sng">
                <a:solidFill>
                  <a:srgbClr val="0070C0"/>
                </a:solidFill>
                <a:latin typeface="ABeeZee"/>
                <a:ea typeface="ABeeZee"/>
                <a:cs typeface="ABeeZee"/>
                <a:sym typeface="ABeeZee"/>
                <a:hlinkClick r:id="rId7" tooltip="https://play.google.com/store/apps/details?id=com.irform"/>
              </a:rPr>
              <a:t>https://play.google.com/store/apps/details?id=com.irform</a:t>
            </a:r>
          </a:p>
          <a:p>
            <a:pPr algn="l" marL="654067" indent="-327033" lvl="1">
              <a:lnSpc>
                <a:spcPts val="3635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DGT ITI Inspection 2.0 App:</a:t>
            </a:r>
            <a:r>
              <a:rPr lang="en-US" sz="3029" u="sng">
                <a:solidFill>
                  <a:srgbClr val="0070C0"/>
                </a:solidFill>
                <a:latin typeface="ABeeZee"/>
                <a:ea typeface="ABeeZee"/>
                <a:cs typeface="ABeeZee"/>
                <a:sym typeface="ABeeZee"/>
                <a:hlinkClick r:id="rId8" tooltip="https://play.google.com/store/apps/details?id=com.iti.itiaffililation"/>
              </a:rPr>
              <a:t>https://play.google.com/store/apps/details?id=com.iti.itiaffililation</a:t>
            </a:r>
          </a:p>
          <a:p>
            <a:pPr algn="l" marL="654067" indent="-327033" lvl="1">
              <a:lnSpc>
                <a:spcPts val="3635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Nature – Crowd Anomaly Detection in Surveillance:</a:t>
            </a:r>
            <a:r>
              <a:rPr lang="en-US" sz="3029" u="sng">
                <a:solidFill>
                  <a:srgbClr val="0070C0"/>
                </a:solidFill>
                <a:latin typeface="ABeeZee"/>
                <a:ea typeface="ABeeZee"/>
                <a:cs typeface="ABeeZee"/>
                <a:sym typeface="ABeeZee"/>
                <a:hlinkClick r:id="rId9" tooltip="https://www.nature.com/articles/s41598-025-27408-9"/>
              </a:rPr>
              <a:t>https://www.nature.com/articles/s41598-025-27408-9</a:t>
            </a:r>
          </a:p>
          <a:p>
            <a:pPr algn="l" marL="654067" indent="-327033" lvl="1">
              <a:lnSpc>
                <a:spcPts val="3635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SafetyCulture – Inspection Platform:</a:t>
            </a:r>
            <a:r>
              <a:rPr lang="en-US" sz="3029" u="sng">
                <a:solidFill>
                  <a:srgbClr val="0070C0"/>
                </a:solidFill>
                <a:latin typeface="ABeeZee"/>
                <a:ea typeface="ABeeZee"/>
                <a:cs typeface="ABeeZee"/>
                <a:sym typeface="ABeeZee"/>
                <a:hlinkClick r:id="rId10" tooltip="https://mitti.com"/>
              </a:rPr>
              <a:t>https://safetyculture.com/</a:t>
            </a:r>
          </a:p>
          <a:p>
            <a:pPr algn="l" marL="654067" indent="-327033" lvl="1">
              <a:lnSpc>
                <a:spcPts val="3635"/>
              </a:lnSpc>
              <a:buFont typeface="Arial"/>
              <a:buChar char="•"/>
            </a:pPr>
            <a:r>
              <a:rPr lang="en-US" sz="3029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Digital India Programme:</a:t>
            </a:r>
            <a:r>
              <a:rPr lang="en-US" sz="3029" u="sng">
                <a:solidFill>
                  <a:srgbClr val="0070C0"/>
                </a:solidFill>
                <a:latin typeface="ABeeZee"/>
                <a:ea typeface="ABeeZee"/>
                <a:cs typeface="ABeeZee"/>
                <a:sym typeface="ABeeZee"/>
                <a:hlinkClick r:id="rId11" tooltip="https://www.digitalindia.gov.in"/>
              </a:rPr>
              <a:t>https://www.digitalindia.gov.in/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044135" y="2773502"/>
            <a:ext cx="14138753" cy="5171810"/>
            <a:chOff x="0" y="0"/>
            <a:chExt cx="3723787" cy="13621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23787" cy="1362123"/>
            </a:xfrm>
            <a:custGeom>
              <a:avLst/>
              <a:gdLst/>
              <a:ahLst/>
              <a:cxnLst/>
              <a:rect r="r" b="b" t="t" l="l"/>
              <a:pathLst>
                <a:path h="1362123" w="3723787">
                  <a:moveTo>
                    <a:pt x="27926" y="0"/>
                  </a:moveTo>
                  <a:lnTo>
                    <a:pt x="3695861" y="0"/>
                  </a:lnTo>
                  <a:cubicBezTo>
                    <a:pt x="3711284" y="0"/>
                    <a:pt x="3723787" y="12503"/>
                    <a:pt x="3723787" y="27926"/>
                  </a:cubicBezTo>
                  <a:lnTo>
                    <a:pt x="3723787" y="1334197"/>
                  </a:lnTo>
                  <a:cubicBezTo>
                    <a:pt x="3723787" y="1349620"/>
                    <a:pt x="3711284" y="1362123"/>
                    <a:pt x="3695861" y="1362123"/>
                  </a:cubicBezTo>
                  <a:lnTo>
                    <a:pt x="27926" y="1362123"/>
                  </a:lnTo>
                  <a:cubicBezTo>
                    <a:pt x="20520" y="1362123"/>
                    <a:pt x="13416" y="1359181"/>
                    <a:pt x="8179" y="1353943"/>
                  </a:cubicBezTo>
                  <a:cubicBezTo>
                    <a:pt x="2942" y="1348706"/>
                    <a:pt x="0" y="1341603"/>
                    <a:pt x="0" y="1334197"/>
                  </a:cubicBezTo>
                  <a:lnTo>
                    <a:pt x="0" y="27926"/>
                  </a:lnTo>
                  <a:cubicBezTo>
                    <a:pt x="0" y="12503"/>
                    <a:pt x="12503" y="0"/>
                    <a:pt x="2792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3723787" cy="1381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DAHUWVlj3Ms</dc:identifier>
  <dcterms:modified xsi:type="dcterms:W3CDTF">2011-08-01T06:04:30Z</dcterms:modified>
  <cp:revision>1</cp:revision>
  <dc:title>SIH2026-IDEA-Presentation-Format.pptx</dc:title>
</cp:coreProperties>
</file>